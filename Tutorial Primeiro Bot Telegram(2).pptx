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664200" cx="10071100"/>
  <p:notesSz cx="6858000" cy="9144000"/>
  <p:embeddedFontLst>
    <p:embeddedFont>
      <p:font typeface="Montserrat"/>
      <p:regular r:id="rId73"/>
      <p:bold r:id="rId74"/>
      <p:italic r:id="rId75"/>
      <p:boldItalic r:id="rId76"/>
    </p:embeddedFont>
    <p:embeddedFont>
      <p:font typeface="Cinzel"/>
      <p:regular r:id="rId77"/>
      <p:bold r:id="rId78"/>
    </p:embeddedFont>
    <p:embeddedFont>
      <p:font typeface="Roboto Mono"/>
      <p:regular r:id="rId79"/>
      <p:bold r:id="rId80"/>
      <p:italic r:id="rId81"/>
      <p:boldItalic r:id="rId82"/>
    </p:embeddedFont>
    <p:embeddedFont>
      <p:font typeface="Comfortaa Medium"/>
      <p:regular r:id="rId83"/>
      <p:bold r:id="rId84"/>
    </p:embeddedFont>
    <p:embeddedFont>
      <p:font typeface="Comfortaa"/>
      <p:regular r:id="rId85"/>
      <p:bold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7" roundtripDataSignature="AMtx7mgPgvdScoJOPXX946ZCrVkeGWQh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ComfortaaMedium-bold.fntdata"/><Relationship Id="rId83" Type="http://schemas.openxmlformats.org/officeDocument/2006/relationships/font" Target="fonts/ComfortaaMedium-regular.fntdata"/><Relationship Id="rId42" Type="http://schemas.openxmlformats.org/officeDocument/2006/relationships/slide" Target="slides/slide37.xml"/><Relationship Id="rId86" Type="http://schemas.openxmlformats.org/officeDocument/2006/relationships/font" Target="fonts/Comfortaa-bold.fntdata"/><Relationship Id="rId41" Type="http://schemas.openxmlformats.org/officeDocument/2006/relationships/slide" Target="slides/slide36.xml"/><Relationship Id="rId85" Type="http://schemas.openxmlformats.org/officeDocument/2006/relationships/font" Target="fonts/Comfortaa-regular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87" Type="http://customschemas.google.com/relationships/presentationmetadata" Target="meta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RobotoMono-bold.fntdata"/><Relationship Id="rId82" Type="http://schemas.openxmlformats.org/officeDocument/2006/relationships/font" Target="fonts/RobotoMono-boldItalic.fntdata"/><Relationship Id="rId81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Montserrat-italic.fntdata"/><Relationship Id="rId30" Type="http://schemas.openxmlformats.org/officeDocument/2006/relationships/slide" Target="slides/slide25.xml"/><Relationship Id="rId74" Type="http://schemas.openxmlformats.org/officeDocument/2006/relationships/font" Target="fonts/Montserrat-bold.fntdata"/><Relationship Id="rId33" Type="http://schemas.openxmlformats.org/officeDocument/2006/relationships/slide" Target="slides/slide28.xml"/><Relationship Id="rId77" Type="http://schemas.openxmlformats.org/officeDocument/2006/relationships/font" Target="fonts/Cinzel-regular.fntdata"/><Relationship Id="rId32" Type="http://schemas.openxmlformats.org/officeDocument/2006/relationships/slide" Target="slides/slide27.xml"/><Relationship Id="rId76" Type="http://schemas.openxmlformats.org/officeDocument/2006/relationships/font" Target="fonts/Montserrat-boldItalic.fntdata"/><Relationship Id="rId35" Type="http://schemas.openxmlformats.org/officeDocument/2006/relationships/slide" Target="slides/slide30.xml"/><Relationship Id="rId79" Type="http://schemas.openxmlformats.org/officeDocument/2006/relationships/font" Target="fonts/RobotoMono-regular.fntdata"/><Relationship Id="rId34" Type="http://schemas.openxmlformats.org/officeDocument/2006/relationships/slide" Target="slides/slide29.xml"/><Relationship Id="rId78" Type="http://schemas.openxmlformats.org/officeDocument/2006/relationships/font" Target="fonts/Cinzel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9b1029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39b102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6acff8a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6acff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c24206c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c24206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c24206c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8c24206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c24206c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8c24206c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c24206c2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c24206c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c24206c2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c24206c2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c24206c2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c24206c2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Bot é um programa capaz de interagir automaticamente com usuários através do Telegram.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🤖 Bot de atendimento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📚 Bot educacional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📰 Bot de notícias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💰 Bot financeiro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🎮 Bot para comunidades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📊 Bot de monitoramento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🤖 Bot integrado com 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🛒 Bot de vendas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🔔 Bot de notificações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8c36c9612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8c36c961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c24206c2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c24206c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c36c9612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8c36c961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c36c9612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8c36c961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8c36c9612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8c36c961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c24206c2_1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8c24206c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c36c9612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c36c961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c36c9612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c36c961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c24206c2_1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8c24206c2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c36c96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8c36c96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c36c961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c36c96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c36c9612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8c36c961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c36c9612_0_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c36c9612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c36c9612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c36c961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c36c9612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8c36c961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c36c961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8c36c961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c36c9612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8c36c961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c36c9612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c36c961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c36c9612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8c36c961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23272af8fed6d58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h23272af8fed6d5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c36c9612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8c36c961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c36c9612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8c36c96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8c36c9612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8c36c961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8c36c961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8c36c961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8c36c9612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8c36c961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8c36c9612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8c36c96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23272af8fed6d582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23272af8fed6d5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a3b40337b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a3b40337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a3b40337b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a3b40337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a3b40337b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a3b40337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a3b40337b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a3b40337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8c36c9612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8c36c961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a3b40337b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a3b40337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3b40337b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a3b40337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a3b40337b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a3b40337b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8c36c9612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8c36c961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a3b40337b_1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a3b40337b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3b40337b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a3b40337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a3b40337b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a3b40337b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a3b40337b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a3b40337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a3b40337b_1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a3b40337b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3b40337b_1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a3b40337b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c36c961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8c36c961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a3b40337b_1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a3b40337b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8c36c9612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8c36c961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8c36c9612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8c36c961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8c36c9612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8c36c961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8c36c9612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f8c36c961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8c36c9612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8c36c961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8c36c961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8c36c961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8c36c9612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f8c36c961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a3b40337b_1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a3b40337b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8c36c9612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8c36c961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a3b40337b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fa3b40337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a3b40337b_1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a3b40337b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a3b40337b_1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fa3b40337b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a3b40337b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fa3b40337b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b2f49fb6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b2f49fb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39b102941_1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a39b102941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47a2659c2_0_87"/>
          <p:cNvSpPr txBox="1"/>
          <p:nvPr>
            <p:ph type="ctrTitle"/>
          </p:nvPr>
        </p:nvSpPr>
        <p:spPr>
          <a:xfrm>
            <a:off x="343312" y="819952"/>
            <a:ext cx="93846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1" name="Google Shape;11;g2b47a2659c2_0_87"/>
          <p:cNvSpPr txBox="1"/>
          <p:nvPr>
            <p:ph idx="1" type="subTitle"/>
          </p:nvPr>
        </p:nvSpPr>
        <p:spPr>
          <a:xfrm>
            <a:off x="343303" y="3121036"/>
            <a:ext cx="9384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12" name="Google Shape;12;g2b47a2659c2_0_87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b47a2659c2_0_91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" name="Google Shape;15;g2b47a2659c2_0_91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b47a2659c2_0_94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" name="Google Shape;18;g2b47a2659c2_0_94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" name="Google Shape;19;g2b47a2659c2_0_94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 1">
  <p:cSld name="BLANK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b47a2659c2_0_150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b47a2659c2_0_9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g2b47a2659c2_0_98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5" name="Google Shape;25;g2b47a2659c2_0_98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6" name="Google Shape;26;g2b47a2659c2_0_98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b47a2659c2_0_106"/>
          <p:cNvSpPr txBox="1"/>
          <p:nvPr>
            <p:ph type="title"/>
          </p:nvPr>
        </p:nvSpPr>
        <p:spPr>
          <a:xfrm>
            <a:off x="343303" y="611846"/>
            <a:ext cx="30927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2b47a2659c2_0_106"/>
          <p:cNvSpPr txBox="1"/>
          <p:nvPr>
            <p:ph idx="1" type="body"/>
          </p:nvPr>
        </p:nvSpPr>
        <p:spPr>
          <a:xfrm>
            <a:off x="343303" y="1530276"/>
            <a:ext cx="3092700" cy="3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0" name="Google Shape;30;g2b47a2659c2_0_106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47a2659c2_0_126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g2b47a2659c2_0_128"/>
          <p:cNvPicPr preferRelativeResize="0"/>
          <p:nvPr/>
        </p:nvPicPr>
        <p:blipFill rotWithShape="1">
          <a:blip r:embed="rId2">
            <a:alphaModFix/>
          </a:blip>
          <a:srcRect b="0" l="49" r="39" t="0"/>
          <a:stretch/>
        </p:blipFill>
        <p:spPr>
          <a:xfrm>
            <a:off x="-27825" y="-18687"/>
            <a:ext cx="10126752" cy="57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2b47a2659c2_0_128"/>
          <p:cNvSpPr txBox="1"/>
          <p:nvPr>
            <p:ph idx="12" type="sldNum"/>
          </p:nvPr>
        </p:nvSpPr>
        <p:spPr>
          <a:xfrm>
            <a:off x="9081593" y="5263645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b47a2659c2_0_1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2b47a2659c2_0_1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2b47a2659c2_0_1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g2b47a2659c2_0_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0163" y="-28612"/>
            <a:ext cx="10171426" cy="572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- Padrão">
  <p:cSld name="TITLE_AND_TWO_COLUMNS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b47a2659c2_0_131"/>
          <p:cNvSpPr txBox="1"/>
          <p:nvPr>
            <p:ph idx="12" type="sldNum"/>
          </p:nvPr>
        </p:nvSpPr>
        <p:spPr>
          <a:xfrm>
            <a:off x="9103915" y="5317504"/>
            <a:ext cx="6042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g2b47a2659c2_0_131"/>
          <p:cNvSpPr txBox="1"/>
          <p:nvPr/>
        </p:nvSpPr>
        <p:spPr>
          <a:xfrm>
            <a:off x="689167" y="101616"/>
            <a:ext cx="89550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inzel"/>
                <a:ea typeface="Cinzel"/>
                <a:cs typeface="Cinzel"/>
                <a:sym typeface="Cinzel"/>
              </a:rPr>
              <a:t>Marketing digital | Redes sociais básico</a:t>
            </a:r>
            <a:endParaRPr b="0" i="0" sz="1100" u="none" cap="none" strike="noStrike">
              <a:solidFill>
                <a:srgbClr val="666666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b47a2659c2_0_10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6" name="Google Shape;46;g2b47a2659c2_0_10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b47a2659c2_0_110"/>
          <p:cNvSpPr txBox="1"/>
          <p:nvPr>
            <p:ph type="title"/>
          </p:nvPr>
        </p:nvSpPr>
        <p:spPr>
          <a:xfrm>
            <a:off x="539956" y="495721"/>
            <a:ext cx="7013400" cy="45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49" name="Google Shape;49;g2b47a2659c2_0_110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47a2659c2_0_113"/>
          <p:cNvSpPr/>
          <p:nvPr/>
        </p:nvSpPr>
        <p:spPr>
          <a:xfrm>
            <a:off x="5035550" y="28"/>
            <a:ext cx="5035500" cy="56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2b47a2659c2_0_113"/>
          <p:cNvSpPr txBox="1"/>
          <p:nvPr>
            <p:ph type="title"/>
          </p:nvPr>
        </p:nvSpPr>
        <p:spPr>
          <a:xfrm>
            <a:off x="292419" y="1358015"/>
            <a:ext cx="44553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53" name="Google Shape;53;g2b47a2659c2_0_113"/>
          <p:cNvSpPr txBox="1"/>
          <p:nvPr>
            <p:ph idx="1" type="subTitle"/>
          </p:nvPr>
        </p:nvSpPr>
        <p:spPr>
          <a:xfrm>
            <a:off x="292419" y="3086843"/>
            <a:ext cx="4455300" cy="13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54" name="Google Shape;54;g2b47a2659c2_0_113"/>
          <p:cNvSpPr txBox="1"/>
          <p:nvPr>
            <p:ph idx="2" type="body"/>
          </p:nvPr>
        </p:nvSpPr>
        <p:spPr>
          <a:xfrm>
            <a:off x="5440310" y="797514"/>
            <a:ext cx="4226100" cy="4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g2b47a2659c2_0_11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47a2659c2_0_119"/>
          <p:cNvSpPr txBox="1"/>
          <p:nvPr>
            <p:ph idx="1" type="body"/>
          </p:nvPr>
        </p:nvSpPr>
        <p:spPr>
          <a:xfrm>
            <a:off x="343303" y="4658855"/>
            <a:ext cx="66069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58" name="Google Shape;58;g2b47a2659c2_0_119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b47a2659c2_0_122"/>
          <p:cNvSpPr txBox="1"/>
          <p:nvPr>
            <p:ph hasCustomPrompt="1" type="title"/>
          </p:nvPr>
        </p:nvSpPr>
        <p:spPr>
          <a:xfrm>
            <a:off x="343303" y="1218103"/>
            <a:ext cx="9384600" cy="21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9pPr>
          </a:lstStyle>
          <a:p>
            <a:r>
              <a:t>xx%</a:t>
            </a:r>
          </a:p>
        </p:txBody>
      </p:sp>
      <p:sp>
        <p:nvSpPr>
          <p:cNvPr id="61" name="Google Shape;61;g2b47a2659c2_0_122"/>
          <p:cNvSpPr txBox="1"/>
          <p:nvPr>
            <p:ph idx="1" type="body"/>
          </p:nvPr>
        </p:nvSpPr>
        <p:spPr>
          <a:xfrm>
            <a:off x="343303" y="3471339"/>
            <a:ext cx="93846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2" name="Google Shape;62;g2b47a2659c2_0_122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b47a2659c2_0_152"/>
          <p:cNvPicPr preferRelativeResize="0"/>
          <p:nvPr/>
        </p:nvPicPr>
        <p:blipFill rotWithShape="1">
          <a:blip r:embed="rId2">
            <a:alphaModFix/>
          </a:blip>
          <a:srcRect b="0" l="49" r="39" t="0"/>
          <a:stretch/>
        </p:blipFill>
        <p:spPr>
          <a:xfrm>
            <a:off x="-27825" y="-18687"/>
            <a:ext cx="10126752" cy="57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2b47a2659c2_0_152"/>
          <p:cNvSpPr txBox="1"/>
          <p:nvPr>
            <p:ph idx="12" type="sldNum"/>
          </p:nvPr>
        </p:nvSpPr>
        <p:spPr>
          <a:xfrm>
            <a:off x="9081593" y="5263645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7a2659c2_0_1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2b47a2659c2_0_1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2b47a2659c2_0_1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g2b47a2659c2_0_1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438" y="-24275"/>
            <a:ext cx="10155974" cy="571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47a2659c2_0_8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2b47a2659c2_0_8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2b47a2659c2_0_8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bernardoxdev/Tutorial-PyBr26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open-meteo.com/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Relationship Id="rId3" Type="http://schemas.openxmlformats.org/officeDocument/2006/relationships/hyperlink" Target="mailto:bernardocmfgomes@gmail.com" TargetMode="Externa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39b102941_0_0"/>
          <p:cNvSpPr txBox="1"/>
          <p:nvPr>
            <p:ph type="ctrTitle"/>
          </p:nvPr>
        </p:nvSpPr>
        <p:spPr>
          <a:xfrm>
            <a:off x="343312" y="828102"/>
            <a:ext cx="93846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330">
                <a:latin typeface="Comfortaa"/>
                <a:ea typeface="Comfortaa"/>
                <a:cs typeface="Comfortaa"/>
                <a:sym typeface="Comfortaa"/>
              </a:rPr>
              <a:t>Criando seu primeiro bot para o telegram utilizando python</a:t>
            </a:r>
            <a:endParaRPr sz="433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" name="Google Shape;76;g3a39b102941_0_0"/>
          <p:cNvSpPr txBox="1"/>
          <p:nvPr>
            <p:ph idx="1" type="subTitle"/>
          </p:nvPr>
        </p:nvSpPr>
        <p:spPr>
          <a:xfrm>
            <a:off x="343303" y="3121036"/>
            <a:ext cx="9384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2300">
                <a:latin typeface="Comfortaa"/>
                <a:ea typeface="Comfortaa"/>
                <a:cs typeface="Comfortaa"/>
                <a:sym typeface="Comfortaa"/>
              </a:rPr>
              <a:t>Ministrante: Bernardo de Castro Monteiro Franco Gomes</a:t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6acff8a6_0_0"/>
          <p:cNvSpPr txBox="1"/>
          <p:nvPr/>
        </p:nvSpPr>
        <p:spPr>
          <a:xfrm>
            <a:off x="4572000" y="659650"/>
            <a:ext cx="50379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Sobre mim:</a:t>
            </a:r>
            <a:endParaRPr sz="2600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82" name="Google Shape;82;g39a6acff8a6_0_0"/>
          <p:cNvSpPr txBox="1"/>
          <p:nvPr/>
        </p:nvSpPr>
        <p:spPr>
          <a:xfrm>
            <a:off x="4572000" y="1362250"/>
            <a:ext cx="50379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Graduando em Ciência da Computação - UFSJ</a:t>
            </a:r>
            <a:endParaRPr sz="13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Possuo 20 anos</a:t>
            </a:r>
            <a:endParaRPr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Dou aulas de Desenvolvimento Full-Stack</a:t>
            </a:r>
            <a:endParaRPr sz="13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Desenvolvo projetos, minicursos e palestras para feiras de tecnologia e para faculdade</a:t>
            </a:r>
            <a:endParaRPr sz="13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6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Projeto: Valyra e Orienta.IA (Open-Source)</a:t>
            </a:r>
            <a:endParaRPr sz="13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6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Tutoriais: PySul 2025 e 2026; Caipyra 2026; PyNe 2026;</a:t>
            </a:r>
            <a:endParaRPr sz="13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6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300">
                <a:solidFill>
                  <a:srgbClr val="EEEEEE"/>
                </a:solidFill>
                <a:latin typeface="Comfortaa"/>
                <a:ea typeface="Comfortaa"/>
                <a:cs typeface="Comfortaa"/>
                <a:sym typeface="Comfortaa"/>
              </a:rPr>
              <a:t>Palestras: UFSJ SECOMP 2025; PyNe 2026</a:t>
            </a:r>
            <a:endParaRPr sz="1500">
              <a:solidFill>
                <a:srgbClr val="EEEEEE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3" name="Google Shape;83;g39a6acff8a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5" y="659650"/>
            <a:ext cx="3317301" cy="47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c24206c2_0_1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INTRODUÇÃO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0.0 - O que é o telegram?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0.1 - Criando uma conta no telegram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BLOCO 1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1.1 - O que é um bot?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1.2 - Bot API e MtProto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1.3 - Criando o bot no BotFather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1.4 - Gerando keys e hashs de desenvolvimento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1.5 - Preparando o ambiente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9" name="Google Shape;89;g3f8c24206c2_0_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Divisão da Palestra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c24206c2_1_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BLOCO 2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2.1 - Estrutura mínima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2.2 - Primeiro comando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2.3 - Problema do contexto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2.4 - Outros comandos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2.5 - Entendendo async e await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BLOCO 3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3.1 - Mensagens de texto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3.2 - Botões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3.3 - Callback Query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5" name="Google Shape;95;g3f8c24206c2_1_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Divisão da Palestra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c24206c2_1_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BLOCO 4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4.1 - Consumindo uma API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4.2 - Variáveis de ambiente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4.3 - Próximos passos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BLOCO 5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5.1 - Por que existem várias bibliotecas?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5.2 - Telethon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5.3 - Quando escolher cada uma?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5.4 - Desafio prático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01" name="Google Shape;101;g3f8c24206c2_1_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Divisão da Palestra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c24206c2_1_2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Introdução</a:t>
            </a: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O que é o telegram?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07" name="Google Shape;107;g3f8c24206c2_1_20"/>
          <p:cNvSpPr txBox="1"/>
          <p:nvPr>
            <p:ph idx="1" type="body"/>
          </p:nvPr>
        </p:nvSpPr>
        <p:spPr>
          <a:xfrm>
            <a:off x="343301" y="1269150"/>
            <a:ext cx="56223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O Telegram é um aplicativo de mensagens com foco em velocidade e segurança, é super-rápido, simples e gratuito. Você pode usar o Telegram em todos os seus dispositivos ao mesmo tempo — suas mensagens são sincronizadas perfeitamente em qualquer quantidade de seus telefones, tablets ou computadores.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08" name="Google Shape;108;g3f8c24206c2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600" y="1269150"/>
            <a:ext cx="3762300" cy="37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c24206c2_1_9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Introdução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Criando uma conta no telegram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114" name="Google Shape;114;g3f8c24206c2_1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37" y="1120675"/>
            <a:ext cx="6889838" cy="44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c24206c2_1_9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O que é um bot?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20" name="Google Shape;120;g3f8c24206c2_1_96"/>
          <p:cNvSpPr txBox="1"/>
          <p:nvPr>
            <p:ph idx="1" type="body"/>
          </p:nvPr>
        </p:nvSpPr>
        <p:spPr>
          <a:xfrm>
            <a:off x="343300" y="1269150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de Atendimento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Educacional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de Notícias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Financeiro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para Comunidades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de Monitoramento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integrado com IA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de Vendas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que eles 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têm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em comum?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São capazes de interagir automaticamente com usuários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8c36c9612_0_9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803"/>
              <a:buFont typeface="Arial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BotApi x MtProto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8c36c9612_0_91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Pensada para criar bots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Fluxo de informações simples: Python -&gt; Bot API -&gt; Telegram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-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Mais simples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-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Limitado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-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HTTP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7" name="Google Shape;127;g3f8c36c9612_0_91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É um protocolo utilizado pelo ecossistema do Telegram para comunicação mais direta com sua infraestrutura.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-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Mais completo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-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Protocolo próprio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 Medium"/>
              <a:buChar char="-"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Poder total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c24206c2_1_10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BotApi x MtProto</a:t>
            </a:r>
            <a:endParaRPr sz="2690">
              <a:solidFill>
                <a:schemeClr val="accent4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3" name="Google Shape;133;g3f8c24206c2_1_106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Bot API é como utilizar uma porta de entrada já preparada para construir bots. MTProto permite trabalhar em uma camada mais baixa e oferece outras possibilidades.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c36c9612_0_104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BotApi x MtProto</a:t>
            </a:r>
            <a:endParaRPr sz="2690">
              <a:solidFill>
                <a:schemeClr val="accent4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9" name="Google Shape;139;g3f8c36c9612_0_104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Bot API é como utilizar uma porta de entrada já preparada para construir bots. MTProto permite trabalhar em uma camada mais baixa e oferece outras possibilidades.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mfortaa"/>
                <a:ea typeface="Comfortaa"/>
                <a:cs typeface="Comfortaa"/>
                <a:sym typeface="Comfortaa"/>
              </a:rPr>
              <a:t>Mais baixo nível não significa automaticamente que é melhor</a:t>
            </a:r>
            <a:endParaRPr b="1"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c36c9612_0_10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MtProto</a:t>
            </a:r>
            <a:endParaRPr sz="2690">
              <a:solidFill>
                <a:schemeClr val="accent4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5" name="Google Shape;145;g3f8c36c9612_0_109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Protocolo de criptograﬁa para garantir segurança, privacidade e alta velocidade nas mensagens, tanto em conversas na nuvem quanto em chats secretos. Utiliza de algoritmos modernos (como AES-256) para proteger a troca de dados.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 Medium"/>
                <a:ea typeface="Comfortaa Medium"/>
                <a:cs typeface="Comfortaa Medium"/>
                <a:sym typeface="Comfortaa Medium"/>
              </a:rPr>
              <a:t>São servidores intermediários especiais feitos sob medida para o aplicativo. Eles ofuscam o tráfego de rede para que governos ou provedores de internet não consigam bloquear ou identificar facilmente o uso do Telegram.</a:t>
            </a:r>
            <a:endParaRPr sz="22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c36c9612_0_9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Criando o bot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51" name="Google Shape;151;g3f8c36c9612_0_98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2" name="Google Shape;152;g3f8c36c9612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00" y="1120675"/>
            <a:ext cx="975360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c24206c2_1_11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Keys e Hashs de desenvolvimento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58" name="Google Shape;158;g3f8c24206c2_1_111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https://my.telegram.org/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9" name="Google Shape;159;g3f8c24206c2_1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00" y="1753374"/>
            <a:ext cx="3925825" cy="22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c36c9612_0_122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Keys e Hashs de desenvolvimento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65" name="Google Shape;165;g3f8c36c9612_0_122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https://my.telegram.org/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6" name="Google Shape;166;g3f8c36c9612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00" y="1753374"/>
            <a:ext cx="3925825" cy="22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8c36c9612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53" y="1753375"/>
            <a:ext cx="4988446" cy="22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c36c9612_0_13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Keys e Hashs de desenvolvimento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73" name="Google Shape;173;g3f8c36c9612_0_13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https://my.telegram.org/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74" name="Google Shape;174;g3f8c36c9612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00" y="1753374"/>
            <a:ext cx="3925825" cy="22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f8c36c9612_0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53" y="1753375"/>
            <a:ext cx="4988446" cy="22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f8c36c9612_0_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911" y="3286125"/>
            <a:ext cx="6604363" cy="233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g3f8c36c9612_0_130"/>
          <p:cNvCxnSpPr/>
          <p:nvPr/>
        </p:nvCxnSpPr>
        <p:spPr>
          <a:xfrm>
            <a:off x="4444750" y="3887950"/>
            <a:ext cx="1181700" cy="38100"/>
          </a:xfrm>
          <a:prstGeom prst="straightConnector1">
            <a:avLst/>
          </a:prstGeom>
          <a:noFill/>
          <a:ln cap="flat" cmpd="sng" w="2286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g3f8c36c9612_0_130"/>
          <p:cNvCxnSpPr/>
          <p:nvPr/>
        </p:nvCxnSpPr>
        <p:spPr>
          <a:xfrm flipH="1" rot="10800000">
            <a:off x="4444700" y="4322475"/>
            <a:ext cx="2004600" cy="22800"/>
          </a:xfrm>
          <a:prstGeom prst="straightConnector1">
            <a:avLst/>
          </a:prstGeom>
          <a:noFill/>
          <a:ln cap="flat" cmpd="sng" w="2286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c24206c2_1_11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B1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Preparando o ambiente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84" name="Google Shape;184;g3f8c24206c2_1_116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mfortaa"/>
                <a:ea typeface="Comfortaa"/>
                <a:cs typeface="Comfortaa"/>
                <a:sym typeface="Comfortaa"/>
              </a:rPr>
              <a:t>1° Biblioteca: Python-Telegram-Bot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mfortaa"/>
                <a:ea typeface="Comfortaa"/>
                <a:cs typeface="Comfortaa"/>
                <a:sym typeface="Comfortaa"/>
              </a:rPr>
              <a:t>2° Biblioteca: Telethon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https://github.com/bernardoxdev/Tutorial-PyBr26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mfortaa"/>
                <a:ea typeface="Comfortaa"/>
                <a:cs typeface="Comfortaa"/>
                <a:sym typeface="Comfortaa"/>
              </a:rPr>
              <a:t>Baixar a pasta “Template Código”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mfortaa"/>
                <a:ea typeface="Comfortaa"/>
                <a:cs typeface="Comfortaa"/>
                <a:sym typeface="Comfortaa"/>
              </a:rPr>
              <a:t>Ativar a venv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mfortaa"/>
                <a:ea typeface="Comfortaa"/>
                <a:cs typeface="Comfortaa"/>
                <a:sym typeface="Comfortaa"/>
              </a:rPr>
              <a:t>Link de ambas bibliotecas estão no README do repositório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c36c9612_0_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Estrutura Mínima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90" name="Google Shape;190;g3f8c36c9612_0_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meu-primeiro-bot/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│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├── .venv/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│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├── bot.py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│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└── requirements.txt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Vamos começar simples e depois vamos ir evoluindo nossa estrutura de projeto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c36c9612_0_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Primeiro Comando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196" name="Google Shape;196;g3f8c36c961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751" y="152400"/>
            <a:ext cx="8132400" cy="566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c36c9612_0_22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Primeiro Comando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02" name="Google Shape;202;g3f8c36c9612_0_22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Update -&gt; Representa uma atualização recebida pelo bot.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Application -&gt; É o objeto principal que gerencia nossa aplicação.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CommandHandler -&gt; Permite associar um comando a uma função.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ContextTypes -&gt; Fornece o contexto daquela interação.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c36c9612_0_237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Primeiro Comando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208" name="Google Shape;208;g3f8c36c9612_0_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488" y="1309640"/>
            <a:ext cx="6950132" cy="423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c36c9612_0_24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app.add_handler(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CommandHandler("start", start)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Utilizamos CommandHandler("start", start) e não CommandHandler("start", start())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“start” -&gt; Estamos apenas passando a função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“start()” -&gt; Estamos executando a função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4" name="Google Shape;214;g3f8c36c9612_0_24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Primeiro Comando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f8c36c9612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613" y="-393862"/>
            <a:ext cx="7615877" cy="6451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c36c9612_0_1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Problema do Contexto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25" name="Google Shape;225;g3f8c36c9612_0_1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Vamos supor que nosso bot está finalmente pronto para ser lançado. Precisamos entender como vamos lidar com usuários enviado múltiplas mensagens, ai que entra o </a:t>
            </a:r>
            <a:r>
              <a:rPr i="1" lang="en-US" sz="2200">
                <a:latin typeface="Comfortaa"/>
                <a:ea typeface="Comfortaa"/>
                <a:cs typeface="Comfortaa"/>
                <a:sym typeface="Comfortaa"/>
              </a:rPr>
              <a:t>Problema do Contexto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Problema do Contexto é nada mais que tratar o fluxo de mensagens que chega para nosso 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8c36c9612_0_15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Problema do Contexto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31" name="Google Shape;231;g3f8c36c9612_0_15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Precisamos entender os seguintes tópicos: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Cada mensagem é um novo evento, ou seja, chega de maneira independente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bot não “lembra” automaticamente do passado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Fluxos interativos dependem de contexto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Para isso vamos criar um </a:t>
            </a:r>
            <a:r>
              <a:rPr i="1" lang="en-US" sz="2200">
                <a:latin typeface="Comfortaa"/>
                <a:ea typeface="Comfortaa"/>
                <a:cs typeface="Comfortaa"/>
                <a:sym typeface="Comfortaa"/>
              </a:rPr>
              <a:t>Gerenciador de Estados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c36c9612_0_161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Gerenciador de Estados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37" name="Google Shape;237;g3f8c36c9612_0_161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Precisamos entender que para gerenciar estados, vamos ter que criar uma “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memória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” para nosso bot, então vamos precisar de: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Dicionário em memória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ID dos usuários como chave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Armazenar progresso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c36c9612_0_16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Fluxo de Interação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43" name="Google Shape;243;g3f8c36c9612_0_166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Vamos seguir o seguinte fluxo de interação: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- Pergunta x Resposta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- Validação de dados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- Próxima etapa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Vamos utilizar um ﬂuxo de interação para “arrumar a casa”, agora o bot vai começar a “pensar”.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23272af8fed6d582_0_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Fluxo de Interação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249" name="Google Shape;249;h23272af8fed6d582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946" y="-814600"/>
            <a:ext cx="6506376" cy="729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8c36c9612_0_14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Outros Comandos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55" name="Google Shape;255;g3f8c36c9612_0_149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Agora é hora para um desafio prático, a ideia é criar 2 comandos simples: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/help -&gt; Mostra todos os comandos que o bot possui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/sobre -&gt; Fala quem é o desenvolvedor do 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8c36c9612_0_1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Entendendo Async e Await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61" name="Google Shape;261;g3f8c36c9612_0_1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Imagine que o nosso bot faça os seguintes passos: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print("Vou consultar o banco...")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# consulta ao banco demora 3 segundos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print("Consulta terminou!")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print("Vou enviar a resposta...")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Se a 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consulta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demora 3 segundos, o programa tem que ficar parado esperando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É como pedir um café e ficar parado olhando para o atendente durante 3 minutos. Com programação assíncrona, podemos dizer: "Enquanto estou esperando o café, posso fazer outra coisa."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8c36c9612_0_284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B2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Entendendo Async e Await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67" name="Google Shape;267;g3f8c36c9612_0_284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omfortaa"/>
                <a:ea typeface="Comfortaa"/>
                <a:cs typeface="Comfortaa"/>
                <a:sym typeface="Comfortaa"/>
              </a:rPr>
              <a:t>async -&gt; Essa função pode trabalhar de forma assíncrona</a:t>
            </a:r>
            <a:endParaRPr sz="2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omfortaa"/>
                <a:ea typeface="Comfortaa"/>
                <a:cs typeface="Comfortaa"/>
                <a:sym typeface="Comfortaa"/>
              </a:rPr>
              <a:t>await -&gt; Preciso esperar essa operação terminar, mas enquanto isso outras tarefas assíncronas podem continuar</a:t>
            </a:r>
            <a:endParaRPr sz="2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omfortaa"/>
                <a:ea typeface="Comfortaa"/>
                <a:cs typeface="Comfortaa"/>
                <a:sym typeface="Comfortaa"/>
              </a:rPr>
              <a:t>Exemplo:</a:t>
            </a:r>
            <a:endParaRPr sz="21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68" name="Google Shape;268;g3f8c36c9612_0_2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488" y="1625325"/>
            <a:ext cx="6948225" cy="537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c36c9612_0_2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</a:t>
            </a: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Handlers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74" name="Google Shape;274;g3f8c36c9612_0_2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Handler = Quando isso acontecer, faça aquilo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Ideia de fluxo do telegram: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Telegram -&gt; Evento -&gt; Handler -&gt; Função Python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Exemplos: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/start -&gt; CommandHandler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"Olá" -&gt; MessageHandler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Clique em botão -&gt; CallbackQueryHandler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c36c9612_0_30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Mensagem de texto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80" name="Google Shape;280;g3f8c36c9612_0_303"/>
          <p:cNvSpPr txBox="1"/>
          <p:nvPr>
            <p:ph idx="1" type="body"/>
          </p:nvPr>
        </p:nvSpPr>
        <p:spPr>
          <a:xfrm>
            <a:off x="343303" y="125390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async def mensagem(update, context):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await update.message.reply_text(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  "Recebi sua mensagem!"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Criamos uma função para realizar uma ação quando recebermos uma mensagem, nesse caso é enviar uma mensagem falando “Recebi sua mensagem!”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c36c9612_0_2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Mensagem de Texto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86" name="Google Shape;286;g3f8c36c9612_0_2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app.add_handler(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MessageHandler(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  filters.TEXT,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  mensagem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Aqui registramos o handler da mensagem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23272af8fed6d582_0_17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Mensagem de Texto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292" name="Google Shape;292;h23272af8fed6d582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00" y="1309640"/>
            <a:ext cx="8568598" cy="423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a3b40337b_1_2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Mensagem de texto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98" name="Google Shape;298;g3fa3b40337b_1_2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Assim nosso fluxo fica o seguinte: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👤 "Olá"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↓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MessageHandler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↓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mensagem()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↓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🤖 "Recebi sua mensagem!"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a3b40337b_1_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Filtros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04" name="Google Shape;304;g3fa3b40337b_1_8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Nem todas mensagem vamos tratar de todas as maneiras, para isso existem os filtros, podendo ser eles de vários tipos: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filters.TEXT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filters.PHOTO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filters.VIDEO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filters.Document.ALL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filters.COMMAND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a3b40337b_1_14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Menus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10" name="Google Shape;310;g3fa3b40337b_1_14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Para criar menus vamos precisar fazer alguns imports: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from telegram import InlineKeyboardButton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from telegram import InlineKeyboardMarkup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 partir deles podemos criar menus: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a3b40337b_1_2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Menus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316" name="Google Shape;316;g3fa3b40337b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625" y="198137"/>
            <a:ext cx="5497827" cy="6250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c36c9612_0_3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Callback Query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22" name="Google Shape;322;g3f8c36c9612_0_3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│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│ callback_data="sobre"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▼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Telegram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│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▼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CallbackQuery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│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▼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Python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3b40337b_1_3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Callback Query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28" name="Google Shape;328;g3fa3b40337b_1_3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Para conseguir tratar os Callbacks Querys vamos precisar utilizar o seguinte código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29" name="Google Shape;329;g3fa3b40337b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575" y="1513390"/>
            <a:ext cx="6769943" cy="423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3b40337b_1_4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Callback Query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35" name="Google Shape;335;g3fa3b40337b_1_4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Para descobrimos qual data estamos tratando, vamos precisar criar a seguinte variável dentro do nosso código: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36" name="Google Shape;336;g3fa3b40337b_1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1300728"/>
            <a:ext cx="10071100" cy="4617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a3b40337b_1_47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B3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Desafio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42" name="Google Shape;342;g3fa3b40337b_1_47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 ideia do nosso 1° desafio é criar um bot onde o usuário vai conseguir clicar em um botão para escolher um jogo, menu de exemplo: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🎮 Jogos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Escolha uma opção: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[ 🪨 Pedra/Papel/Tesoura ]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[ 🎲 Dado ]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[ ↩️ Voltar ]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c36c9612_0_3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O que é uma Api?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348" name="Google Shape;348;g3f8c36c9612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853" y="1120675"/>
            <a:ext cx="6661499" cy="441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a3b40337b_1_5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Consumindo uma API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54" name="Google Shape;354;g3fa3b40337b_1_5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Para consumir uma API precisamos primeiro entender o que o seguinte código faz: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55" name="Google Shape;355;g3fa3b40337b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86" y="784850"/>
            <a:ext cx="7859727" cy="56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a3b40337b_1_6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Consumindo uma API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61" name="Google Shape;361;g3fa3b40337b_1_6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requests.get()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↓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Faz a requisição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↓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Resposta da API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response.json()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  ↓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Transforma JSON em Python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a3b40337b_1_6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Consumindo uma API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67" name="Google Shape;367;g3fa3b40337b_1_66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Como estamos fazendo um projeto de código assíncrono nossa melhor opção é usar a biblioteca </a:t>
            </a:r>
            <a:r>
              <a:rPr i="1" lang="en-US" sz="2200">
                <a:latin typeface="Comfortaa"/>
                <a:ea typeface="Comfortaa"/>
                <a:cs typeface="Comfortaa"/>
                <a:sym typeface="Comfortaa"/>
              </a:rPr>
              <a:t>httpx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para não bloquear o event-loop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68" name="Google Shape;368;g3fa3b40337b_1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785" y="1269150"/>
            <a:ext cx="8553629" cy="566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3b40337b_1_72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Falando sobre dados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74" name="Google Shape;374;g3fa3b40337b_1_72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Quando 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fazemos</a:t>
            </a: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uma requisição - e utilizamos o response.json() - , o que o nosso código recebe é nada mais nada menos que um dicionário: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dados = {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"cidade": "Belo Horizonte",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"temperatura": 24,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    "condicao": "Ensolarado"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a3b40337b_1_7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Tratamentos de Erros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80" name="Google Shape;380;g3fa3b40337b_1_78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Quando estamos trabalhando, podemos ter vários erros, como: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API indisponível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Timeout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Resposta inválida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Erro HTTP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3b40337b_1_8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Tratamentos de Erros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386" name="Google Shape;386;g3fa3b40337b_1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200" y="249350"/>
            <a:ext cx="7886700" cy="60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8c36c9612_0_4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Variáveis de Ambiente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92" name="Google Shape;392;g3f8c36c9612_0_4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Uma das grandes práticas de segurança que possuímos hoje em dia é o uso de variáveis de ambiente, que fazem com que seja possível “esconder” dados sigilosos de nosso.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Por exemplo, sempre vamos querer evitar colocar em nosso código o nosso TOKEN e API_KEY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TOKEN = "123456789:ABC..."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API_KEY = "abc123..."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a3b40337b_1_97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Variáveis de Ambiente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98" name="Google Shape;398;g3fa3b40337b_1_97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que vamos fazer é criar um arquivo .env e colocar nossos dados dentro dele e nosso código vai ficar assim: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99" name="Google Shape;399;g3fa3b40337b_1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85" y="800100"/>
            <a:ext cx="8725931" cy="566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8c36c9612_0_5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B4.5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Polling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05" name="Google Shape;405;g3f8c36c9612_0_5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Na técnica de polling o sistema fica sempre perguntando ao servidor: “Tem algum coisa nova?”. Exemplo: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→ Telegram: Tem mensagem nova?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Telegram → Bot: Não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→ Telegram: Tem mensagem nova?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Telegram → Bot: Não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→ Telegram: Tem mensagem nova?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Telegram → Bot: Sim! Mensagem: "Olá"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8c36c9612_0_19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B4.5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Polling</a:t>
            </a:r>
            <a:endParaRPr/>
          </a:p>
        </p:txBody>
      </p:sp>
      <p:sp>
        <p:nvSpPr>
          <p:cNvPr id="411" name="Google Shape;411;g3f8c36c9612_0_198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Vantagens: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Mais simples de implementar.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Não precisa necessariamente de um servidor acessível publicamente.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Ótimo para desenvolvimento local.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Fácil de entender para iniciantes.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2" name="Google Shape;412;g3f8c36c9612_0_198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Desvantagens: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Faz requisições mesmo quando não há novidades.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Pode consumir mais recursos.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Existe um pequeno atraso dependendo do intervalo de consulta.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8c36c9612_0_182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B4.5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Webhook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18" name="Google Shape;418;g3f8c36c9612_0_182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Na técnica de webhook o sistema fala para o servidor: “Quando acontecer alguma coisa, me avise neste endereço.". Exemplo: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Usuário → Telegram: "Olá"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Telegram → Bot: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POST https://meubot.com/webhook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→ Telegram: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Recebi a mensagem!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Aqui o telegram inicia a comunicação quando existe um evento. É como deixar seu número de telefone para alguém te ligar quando precisar.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8c36c9612_0_20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B4.5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Webhook</a:t>
            </a:r>
            <a:endParaRPr sz="2690">
              <a:solidFill>
                <a:schemeClr val="accent4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24" name="Google Shape;424;g3f8c36c9612_0_206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Vantagens: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Comunicação praticamente em tempo real.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Não fica fazendo requisições desnecessárias.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Mais eficiente para produção e alto volume.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servidor só recebe requisições quando há eventos.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5" name="Google Shape;425;g3f8c36c9612_0_206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Desvantagens: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Exige uma aplicação acessível pela internet.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Normalmente precisa configurar HTTPS.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 configuração é um pouco mais complexa.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É necessário lidar com disponibilidade e segurança do endpoint.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c36c9612_0_187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Por que existem várias bibliotecas?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31" name="Google Shape;431;g3f8c36c9612_0_187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Telegram possui uma infraestrutura muito maior que a interface específica disponibilizada pela Bot API. Cada biblioteca que possuímos entra para fazer uma função diferente e em camadas diferentes do Telegram.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python-telegram-bot -&gt; Bots usando Bot API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aiogram -&gt; Bots assíncronos usando Bot API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Pyrogram -&gt; Cliente python que trabalha com a API do Telegram e Bot API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Telethon -&gt; Cliente python para a API do Telegram/MTProto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8c36c9612_0_6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Telethon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37" name="Google Shape;437;g3f8c36c9612_0_6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Primeiro precisamos entender quando vamos utilizar o Telethon: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Trabalhar como usuário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Acessar conversas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Trabalhar com grupos/canais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Automação avançada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Char char="-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Recursos da API do Telegram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Isso não significa que qualquer automação de usuário seja apropriada. Também existem regras e limitações do Telegram. A biblioteca não elimina essas regras.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8c36c9612_0_7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Primeiro contato com o Telethon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443" name="Google Shape;443;g3f8c36c9612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950" y="266725"/>
            <a:ext cx="5219201" cy="61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a3b40337b_1_11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Quando escolher cada um?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49" name="Google Shape;449;g3fa3b40337b_1_11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Lembrando que isso não regras, apenas ideias: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Primeiro bot -&gt;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tradicional -&gt;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Bot assíncrono -&gt; aiogram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Trabalhar com MTProto -&gt; Telethon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c36c9612_0_7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Desafio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55" name="Google Shape;455;g3f8c36c9612_0_7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Qual biblioteca vamos escolher em cada uma das situaçoes?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1 - Quero criar um bot de atendimento para uma loja?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2 - Quero criar um bot que consulta uma API de previsão do tempo?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3 - Preciso trabalhar com recursos da API do Telegram que vão além do modelo tradicional de Bot API?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a3b40337b_1_12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Desafio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61" name="Google Shape;461;g3fa3b40337b_1_128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Qual biblioteca vamos escolher em cada uma das situaçoes?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1 -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2 - Quero criar um bot que consulta uma API de previsão do tempo?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3 - Preciso trabalhar com recursos da API do Telegram que vão além do modelo tradicional de Bot API?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a3b40337b_1_14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Desafio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67" name="Google Shape;467;g3fa3b40337b_1_14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Qual biblioteca vamos escolher em cada uma das situaçoes?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1 -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2 -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3 - Preciso trabalhar com recursos da API do Telegram que vão além do modelo tradicional de Bot API?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a3b40337b_1_14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Desafio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73" name="Google Shape;473;g3fa3b40337b_1_148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Qual biblioteca vamos escolher em cada uma das situaçoes?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1 -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2 - python-telegram-bot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3 - Telethon / Pyrogram (Descontinuada)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a3b40337b_1_15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B5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Desafio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79" name="Google Shape;479;g3fa3b40337b_1_15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Agora vamos criar um bot que faz o consumo da API do OpenMeteo: </a:t>
            </a:r>
            <a:r>
              <a:rPr lang="en-US" sz="22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https://open-meteo.com/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Comandos obrigatórios: /start; /help; /clima; /sobre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projeto deve conter: Algumas cidades como padrão onde o usuário vai escolher por meio de botões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b2f49fb61_0_5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Discussão e Q&amp;A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39b102941_1_211"/>
          <p:cNvSpPr txBox="1"/>
          <p:nvPr>
            <p:ph type="title"/>
          </p:nvPr>
        </p:nvSpPr>
        <p:spPr>
          <a:xfrm>
            <a:off x="343299" y="611850"/>
            <a:ext cx="4228800" cy="832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Ficamos por aqui!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QUalquer dúvida:</a:t>
            </a:r>
            <a:endParaRPr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90" name="Google Shape;490;g3a39b102941_1_211"/>
          <p:cNvSpPr txBox="1"/>
          <p:nvPr>
            <p:ph idx="1" type="body"/>
          </p:nvPr>
        </p:nvSpPr>
        <p:spPr>
          <a:xfrm>
            <a:off x="343299" y="1530275"/>
            <a:ext cx="4228800" cy="3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>
                <a:latin typeface="Comfortaa"/>
                <a:ea typeface="Comfortaa"/>
                <a:cs typeface="Comfortaa"/>
                <a:sym typeface="Comfortaa"/>
              </a:rPr>
              <a:t>(31) 99998-1418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bernardocmfgomes@gmail.com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>
                <a:latin typeface="Roboto Mono"/>
                <a:ea typeface="Roboto Mono"/>
                <a:cs typeface="Roboto Mono"/>
                <a:sym typeface="Roboto Mono"/>
              </a:rPr>
              <a:t>@bernardocastro___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900">
                <a:latin typeface="Roboto Mono"/>
                <a:ea typeface="Roboto Mono"/>
                <a:cs typeface="Roboto Mono"/>
                <a:sym typeface="Roboto Mono"/>
              </a:rPr>
              <a:t>@bernardoxdev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91" name="Google Shape;491;g3a39b102941_1_211" title="bernardodev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99" y="152400"/>
            <a:ext cx="5194200" cy="51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a39b102941_1_211"/>
          <p:cNvSpPr/>
          <p:nvPr/>
        </p:nvSpPr>
        <p:spPr>
          <a:xfrm>
            <a:off x="4740075" y="231025"/>
            <a:ext cx="5138400" cy="511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g3a39b102941_1_211" title="bernardodev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3800" y="231025"/>
            <a:ext cx="5115600" cy="51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